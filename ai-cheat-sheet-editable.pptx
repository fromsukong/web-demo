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B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and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47548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40233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8478"/>
                </a:solidFill>
                <a:latin typeface="Arial"/>
              </a:rPr>
              <a:t>FROMSUKONG ·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9281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815"/>
                </a:solidFill>
                <a:latin typeface="Arial"/>
              </a:rPr>
              <a:t>AI MODEL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9281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4000"/>
                </a:solidFill>
                <a:latin typeface="Arial"/>
              </a:rPr>
              <a:t>WEEK OF AUG 15,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9281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15"/>
                </a:solidFill>
                <a:latin typeface="Arial"/>
              </a:rPr>
              <a:t>V4 Pro GA — promo dies Aug 16</a:t>
            </a:r>
            <a:r>
              <a:rPr sz="1100" b="0">
                <a:solidFill>
                  <a:srgbClr val="6E675D"/>
                </a:solidFill>
                <a:latin typeface="Arial"/>
              </a:rPr>
              <a:t>  ·  GLM-5.3 lands · Opus 5 still #1 (AA 63).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478"/>
                </a:solidFill>
                <a:latin typeface="Arial"/>
              </a:rPr>
              <a:t>≤ $1.25 / 1M 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9191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DeepSeek V4-Flash</a:t>
            </a:r>
            <a:r>
              <a:rPr sz="900" b="0">
                <a:solidFill>
                  <a:srgbClr val="8A8478"/>
                </a:solidFill>
                <a:latin typeface="Arial"/>
              </a:rPr>
              <a:t>   DeepSeek ·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889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$0.14 / $0.28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9815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Cheapest serious agent</a:t>
            </a:r>
            <a:r>
              <a:rPr sz="1050" b="1">
                <a:solidFill>
                  <a:srgbClr val="C04000"/>
                </a:solidFill>
                <a:latin typeface="Arial"/>
              </a:rPr>
              <a:t>   TB2.1 82.7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10712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3872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GPT-5.6 Luna</a:t>
            </a:r>
            <a:r>
              <a:rPr sz="900" b="0">
                <a:solidFill>
                  <a:srgbClr val="8A8478"/>
                </a:solidFill>
                <a:latin typeface="Arial"/>
              </a:rPr>
              <a:t>  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53872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$0.20 / $1.20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9624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OpenAI quality, tiny price</a:t>
            </a:r>
            <a:r>
              <a:rPr sz="1050" b="1">
                <a:solidFill>
                  <a:srgbClr val="C04000"/>
                </a:solidFill>
                <a:latin typeface="Arial"/>
              </a:rPr>
              <a:t>   TB2.1 84.7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885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MID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8853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478"/>
                </a:solidFill>
                <a:latin typeface="Arial"/>
              </a:rPr>
              <a:t>$1.25 – $6 / 1M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44568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542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DeepSeek V4 Pro  ★</a:t>
            </a:r>
            <a:r>
              <a:rPr sz="900" b="0">
                <a:solidFill>
                  <a:srgbClr val="8A8478"/>
                </a:solidFill>
                <a:latin typeface="Arial"/>
              </a:rPr>
              <a:t>   DeepSeek · open · promo ends Aug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6542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$1.32 / $3.96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65192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Open-weight flagship</a:t>
            </a:r>
            <a:r>
              <a:rPr sz="1050" b="1">
                <a:solidFill>
                  <a:srgbClr val="C04000"/>
                </a:solidFill>
                <a:latin typeface="Arial"/>
              </a:rPr>
              <a:t>   NL2Repo 61.5 #1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76088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041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Grok 4.6</a:t>
            </a:r>
            <a:r>
              <a:rPr sz="900" b="0">
                <a:solidFill>
                  <a:srgbClr val="8A8478"/>
                </a:solidFill>
                <a:latin typeface="Arial"/>
              </a:rPr>
              <a:t>   xAI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4041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$2 / $6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15000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Near-frontier agentic</a:t>
            </a:r>
            <a:r>
              <a:rPr sz="1050" b="1">
                <a:solidFill>
                  <a:srgbClr val="C04000"/>
                </a:solidFill>
                <a:latin typeface="Arial"/>
              </a:rPr>
              <a:t>   AA Agentic #2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025896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15391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615391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478"/>
                </a:solidFill>
                <a:latin typeface="Arial"/>
              </a:rPr>
              <a:t>&gt; $6 / 1M 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09944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Claude Opus 5</a:t>
            </a:r>
            <a:r>
              <a:rPr sz="900" b="0">
                <a:solidFill>
                  <a:srgbClr val="8A8478"/>
                </a:solidFill>
                <a:latin typeface="Arial"/>
              </a:rPr>
              <a:t>   Anthropic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5196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$5 / $25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830568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Smartest right now</a:t>
            </a:r>
            <a:r>
              <a:rPr sz="1050" b="1">
                <a:solidFill>
                  <a:srgbClr val="C04000"/>
                </a:solidFill>
                <a:latin typeface="Arial"/>
              </a:rPr>
              <a:t>   AA 63 #1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7141464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72694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15"/>
                </a:solidFill>
                <a:latin typeface="Arial"/>
              </a:rPr>
              <a:t>GPT-5.6 Sol</a:t>
            </a:r>
            <a:r>
              <a:rPr sz="900" b="0">
                <a:solidFill>
                  <a:srgbClr val="8A8478"/>
                </a:solidFill>
                <a:latin typeface="Arial"/>
              </a:rPr>
              <a:t>   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7269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1A1815"/>
                </a:solidFill>
                <a:latin typeface="Arial"/>
              </a:rPr>
              <a:t>$5 / $30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7580376"/>
            <a:ext cx="9052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75D"/>
                </a:solidFill>
                <a:latin typeface="Arial"/>
              </a:rPr>
              <a:t>Math &amp; coding champ</a:t>
            </a:r>
            <a:r>
              <a:rPr sz="1050" b="1">
                <a:solidFill>
                  <a:srgbClr val="C04000"/>
                </a:solidFill>
                <a:latin typeface="Arial"/>
              </a:rPr>
              <a:t>   TB2.1 88.8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7891272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8156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8478"/>
                </a:solidFill>
                <a:latin typeface="Arial"/>
              </a:rPr>
              <a:t>SPECIALISTS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8412480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852220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478"/>
                </a:solidFill>
                <a:latin typeface="Arial"/>
              </a:rPr>
              <a:t>MATH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852220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815"/>
                </a:solidFill>
                <a:latin typeface="Arial"/>
              </a:rPr>
              <a:t>GPT-5.6 Sol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852220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FrontierMath 89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883310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478"/>
                </a:solidFill>
                <a:latin typeface="Arial"/>
              </a:rPr>
              <a:t>CODING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883310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815"/>
                </a:solidFill>
                <a:latin typeface="Arial"/>
              </a:rPr>
              <a:t>Claude Opus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8833104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AA Coding 67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914400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478"/>
                </a:solidFill>
                <a:latin typeface="Arial"/>
              </a:rPr>
              <a:t>LONG CTX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914400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815"/>
                </a:solidFill>
                <a:latin typeface="Arial"/>
              </a:rPr>
              <a:t>Claude Mythos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914400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1M · 79.4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945489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8A8478"/>
                </a:solidFill>
                <a:latin typeface="Arial"/>
              </a:rPr>
              <a:t>VALUE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945489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815"/>
                </a:solidFill>
                <a:latin typeface="Arial"/>
              </a:rPr>
              <a:t>Gemini 3.5 Flash-Lite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94548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C04000"/>
                </a:solidFill>
                <a:latin typeface="Arial"/>
              </a:rPr>
              <a:t>$0.30 / 1M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9948672"/>
            <a:ext cx="9281160" cy="12700"/>
          </a:xfrm>
          <a:prstGeom prst="rect">
            <a:avLst/>
          </a:prstGeom>
          <a:solidFill>
            <a:srgbClr val="EA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101132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C04000"/>
                </a:solidFill>
                <a:latin typeface="Arial"/>
              </a:rPr>
              <a:t>BOTTOM 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1011326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A1815"/>
                </a:solidFill>
                <a:latin typeface="Arial"/>
              </a:rPr>
              <a:t>Opus 5</a:t>
            </a:r>
            <a:r>
              <a:rPr sz="1050" b="0">
                <a:solidFill>
                  <a:srgbClr val="6E675D"/>
                </a:solidFill>
                <a:latin typeface="Arial"/>
              </a:rPr>
              <a:t> owns the frontier · </a:t>
            </a:r>
            <a:r>
              <a:rPr sz="1050" b="1">
                <a:solidFill>
                  <a:srgbClr val="1A1815"/>
                </a:solidFill>
                <a:latin typeface="Arial"/>
              </a:rPr>
              <a:t>V4 Pro</a:t>
            </a:r>
            <a:r>
              <a:rPr sz="1050" b="0">
                <a:solidFill>
                  <a:srgbClr val="6E675D"/>
                </a:solidFill>
                <a:latin typeface="Arial"/>
              </a:rPr>
              <a:t> is the open flagship (price ↑ Aug 16) · </a:t>
            </a:r>
            <a:r>
              <a:rPr sz="1050" b="1">
                <a:solidFill>
                  <a:srgbClr val="1A1815"/>
                </a:solidFill>
                <a:latin typeface="Arial"/>
              </a:rPr>
              <a:t>V4-Flash</a:t>
            </a:r>
            <a:r>
              <a:rPr sz="1050" b="0">
                <a:solidFill>
                  <a:srgbClr val="6E675D"/>
                </a:solidFill>
                <a:latin typeface="Arial"/>
              </a:rPr>
              <a:t> stays the budget king.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12390120"/>
            <a:ext cx="9281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8A8478"/>
                </a:solidFill>
                <a:latin typeface="Arial"/>
              </a:rPr>
              <a:t>Data as of Aug 15 · full refresh Mon Aug 17 · * = vendor-reported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